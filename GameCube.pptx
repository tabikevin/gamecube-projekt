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rts/chart1.xml" ContentType="application/vnd.openxmlformats-officedocument.drawingml.chart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9B5D5"/>
    <a:srgbClr val="521B93"/>
    <a:srgbClr val="94209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608"/>
    <p:restoredTop sz="94610"/>
  </p:normalViewPr>
  <p:slideViewPr>
    <p:cSldViewPr snapToGrid="0" snapToObjects="1">
      <p:cViewPr varScale="1">
        <p:scale>
          <a:sx n="168" d="100"/>
          <a:sy n="168" d="100"/>
        </p:scale>
        <p:origin x="648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-munkalap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hu-HU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Hours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FFFFF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1BE5-BF42-8941-107902884D2C}"/>
              </c:ext>
            </c:extLst>
          </c:dPt>
          <c:dPt>
            <c:idx val="1"/>
            <c:bubble3D val="0"/>
            <c:spPr>
              <a:solidFill>
                <a:srgbClr val="9B59B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1BE5-BF42-8941-107902884D2C}"/>
              </c:ext>
            </c:extLst>
          </c:dPt>
          <c:dPt>
            <c:idx val="2"/>
            <c:bubble3D val="0"/>
            <c:spPr>
              <a:solidFill>
                <a:srgbClr val="5B2D8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1BE5-BF42-8941-107902884D2C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chemeClr val="tx1"/>
                      </a:solidFill>
                      <a:latin typeface="Arial"/>
                    </a:defRPr>
                  </a:pPr>
                  <a:endParaRPr lang="hu-HU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1BE5-BF42-8941-107902884D2C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chemeClr val="tx1"/>
                      </a:solidFill>
                      <a:latin typeface="Arial"/>
                    </a:defRPr>
                  </a:pPr>
                  <a:endParaRPr lang="hu-HU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1BE5-BF42-8941-107902884D2C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chemeClr val="tx1"/>
                      </a:solidFill>
                      <a:latin typeface="Arial"/>
                    </a:defRPr>
                  </a:pPr>
                  <a:endParaRPr lang="hu-HU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1BE5-BF42-8941-107902884D2C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chemeClr val="tx1"/>
                    </a:solidFill>
                    <a:latin typeface="Arial"/>
                  </a:defRPr>
                </a:pPr>
                <a:endParaRPr lang="hu-HU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Németh B. K.  66h</c:v>
                </c:pt>
                <c:pt idx="1">
                  <c:v>Tabi Kevin  51h</c:v>
                </c:pt>
                <c:pt idx="2">
                  <c:v>Dalmady Máté  43h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66</c:v>
                </c:pt>
                <c:pt idx="1">
                  <c:v>51</c:v>
                </c:pt>
                <c:pt idx="2">
                  <c:v>43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1BE5-BF42-8941-107902884D2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chemeClr val="bg1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2E0B3B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487046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E0B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463040"/>
            <a:ext cx="91440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GAMECUBE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0" y="283464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C8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Game Keys Marketplace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0" y="3493008"/>
            <a:ext cx="3657600" cy="0"/>
          </a:xfrm>
          <a:prstGeom prst="line">
            <a:avLst/>
          </a:prstGeom>
          <a:noFill/>
          <a:ln w="12700">
            <a:solidFill>
              <a:srgbClr val="5A2D6A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5" name="Text 3"/>
          <p:cNvSpPr/>
          <p:nvPr/>
        </p:nvSpPr>
        <p:spPr>
          <a:xfrm>
            <a:off x="457200" y="365760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Dalmady Máté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4005072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8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Developer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337560" y="365760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Németh Barna Kristóf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337560" y="4005072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8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Developer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217920" y="365760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Tabi Kevin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217920" y="4005072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8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/ PM</a:t>
            </a:r>
            <a:endParaRPr lang="en-US" sz="1100" dirty="0"/>
          </a:p>
        </p:txBody>
      </p:sp>
      <p:sp>
        <p:nvSpPr>
          <p:cNvPr id="13" name="Ellipszis 12">
            <a:extLst>
              <a:ext uri="{FF2B5EF4-FFF2-40B4-BE49-F238E27FC236}">
                <a16:creationId xmlns:a16="http://schemas.microsoft.com/office/drawing/2014/main" id="{8D39375E-2704-D1B4-8873-02DE9C8EAC43}"/>
              </a:ext>
            </a:extLst>
          </p:cNvPr>
          <p:cNvSpPr>
            <a:spLocks/>
          </p:cNvSpPr>
          <p:nvPr/>
        </p:nvSpPr>
        <p:spPr>
          <a:xfrm>
            <a:off x="8689680" y="88056"/>
            <a:ext cx="360000" cy="360000"/>
          </a:xfrm>
          <a:prstGeom prst="ellipse">
            <a:avLst/>
          </a:prstGeom>
          <a:solidFill>
            <a:srgbClr val="94209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14" name="Ellipszis 13">
            <a:extLst>
              <a:ext uri="{FF2B5EF4-FFF2-40B4-BE49-F238E27FC236}">
                <a16:creationId xmlns:a16="http://schemas.microsoft.com/office/drawing/2014/main" id="{BCA14046-62EE-AB29-20CB-761DD632E8F4}"/>
              </a:ext>
            </a:extLst>
          </p:cNvPr>
          <p:cNvSpPr>
            <a:spLocks/>
          </p:cNvSpPr>
          <p:nvPr/>
        </p:nvSpPr>
        <p:spPr>
          <a:xfrm>
            <a:off x="4483440" y="4446864"/>
            <a:ext cx="360000" cy="360000"/>
          </a:xfrm>
          <a:prstGeom prst="ellipse">
            <a:avLst/>
          </a:prstGeom>
          <a:solidFill>
            <a:srgbClr val="94209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15" name="Ellipszis 14">
            <a:extLst>
              <a:ext uri="{FF2B5EF4-FFF2-40B4-BE49-F238E27FC236}">
                <a16:creationId xmlns:a16="http://schemas.microsoft.com/office/drawing/2014/main" id="{2D7D7B77-7D27-0A3F-1480-EFF08F84CB3D}"/>
              </a:ext>
            </a:extLst>
          </p:cNvPr>
          <p:cNvSpPr>
            <a:spLocks/>
          </p:cNvSpPr>
          <p:nvPr/>
        </p:nvSpPr>
        <p:spPr>
          <a:xfrm>
            <a:off x="1603080" y="4384716"/>
            <a:ext cx="360000" cy="360000"/>
          </a:xfrm>
          <a:prstGeom prst="ellipse">
            <a:avLst/>
          </a:prstGeom>
          <a:solidFill>
            <a:srgbClr val="521B9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16" name="Ellipszis 15">
            <a:extLst>
              <a:ext uri="{FF2B5EF4-FFF2-40B4-BE49-F238E27FC236}">
                <a16:creationId xmlns:a16="http://schemas.microsoft.com/office/drawing/2014/main" id="{BDCF7001-D14F-290C-35B9-0FFFAFA2F8F5}"/>
              </a:ext>
            </a:extLst>
          </p:cNvPr>
          <p:cNvSpPr>
            <a:spLocks/>
          </p:cNvSpPr>
          <p:nvPr/>
        </p:nvSpPr>
        <p:spPr>
          <a:xfrm>
            <a:off x="7363800" y="4446864"/>
            <a:ext cx="360000" cy="360000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2E0B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2743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Dalmady Máté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Developer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2011680"/>
            <a:ext cx="260604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Homepage &amp; product listing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 &amp; checkout UI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Profile, register, login HTML/CSS/JavaScript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slider, category filter component</a:t>
            </a:r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Figma </a:t>
            </a:r>
            <a:r>
              <a:rPr lang="en-US" sz="1400" dirty="0" err="1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desing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200400" y="91440"/>
            <a:ext cx="0" cy="4937760"/>
          </a:xfrm>
          <a:prstGeom prst="line">
            <a:avLst/>
          </a:prstGeom>
          <a:noFill/>
          <a:ln w="12700">
            <a:solidFill>
              <a:srgbClr val="5A2D6A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5" name="Text 3"/>
          <p:cNvSpPr/>
          <p:nvPr/>
        </p:nvSpPr>
        <p:spPr>
          <a:xfrm>
            <a:off x="3310128" y="182880"/>
            <a:ext cx="2743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Németh Barna Kristóf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Developer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401568" y="2011680"/>
            <a:ext cx="260604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 API endpoints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authentication &amp; session handling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queries and transactions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order management system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144768" y="91440"/>
            <a:ext cx="0" cy="4937760"/>
          </a:xfrm>
          <a:prstGeom prst="line">
            <a:avLst/>
          </a:prstGeom>
          <a:noFill/>
          <a:ln w="12700">
            <a:solidFill>
              <a:srgbClr val="5A2D6A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8" name="Text 6"/>
          <p:cNvSpPr/>
          <p:nvPr/>
        </p:nvSpPr>
        <p:spPr>
          <a:xfrm>
            <a:off x="6254496" y="182880"/>
            <a:ext cx="2743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Tabi Kevin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/ PM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345936" y="2011680"/>
            <a:ext cx="260604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schema design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Jira task management &amp; time tracking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repository management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coordination &amp; documentation</a:t>
            </a:r>
            <a:endParaRPr lang="en-US" sz="1400" dirty="0"/>
          </a:p>
        </p:txBody>
      </p:sp>
      <p:sp>
        <p:nvSpPr>
          <p:cNvPr id="11" name="Ellipszis 10">
            <a:extLst>
              <a:ext uri="{FF2B5EF4-FFF2-40B4-BE49-F238E27FC236}">
                <a16:creationId xmlns:a16="http://schemas.microsoft.com/office/drawing/2014/main" id="{59CCF547-D97B-E000-7087-14AB2A296828}"/>
              </a:ext>
            </a:extLst>
          </p:cNvPr>
          <p:cNvSpPr>
            <a:spLocks/>
          </p:cNvSpPr>
          <p:nvPr/>
        </p:nvSpPr>
        <p:spPr>
          <a:xfrm>
            <a:off x="8689680" y="88056"/>
            <a:ext cx="360000" cy="360000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E0B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GameCube?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768096"/>
            <a:ext cx="8229600" cy="0"/>
          </a:xfrm>
          <a:prstGeom prst="line">
            <a:avLst/>
          </a:prstGeom>
          <a:noFill/>
          <a:ln w="12700">
            <a:solidFill>
              <a:srgbClr val="5A2D6A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C8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"One platform. Multiple sellers. Unbeatable prices."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234440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Prices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1581912"/>
            <a:ext cx="4023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pricing from multiple sellers, always below MSRP.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754880" y="1234440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Delivery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754880" y="1581912"/>
            <a:ext cx="4023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 delivered immediately to your profile — no waiting.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331720"/>
            <a:ext cx="8229600" cy="0"/>
          </a:xfrm>
          <a:prstGeom prst="line">
            <a:avLst/>
          </a:prstGeom>
          <a:noFill/>
          <a:ln w="12700">
            <a:solidFill>
              <a:srgbClr val="5A2D6A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0" name="Text 8"/>
          <p:cNvSpPr/>
          <p:nvPr/>
        </p:nvSpPr>
        <p:spPr>
          <a:xfrm>
            <a:off x="457200" y="2606040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Platform, Many Sellers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57200" y="2953512"/>
            <a:ext cx="4023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Aggregated marketplace with verified vendors and multiple offers.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754880" y="2606040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Access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754880" y="2953512"/>
            <a:ext cx="4023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browsing, filtering and checkout experience.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3703320"/>
            <a:ext cx="8229600" cy="0"/>
          </a:xfrm>
          <a:prstGeom prst="line">
            <a:avLst/>
          </a:prstGeom>
          <a:noFill/>
          <a:ln w="12700">
            <a:solidFill>
              <a:srgbClr val="5A2D6A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5" name="Text 13"/>
          <p:cNvSpPr/>
          <p:nvPr/>
        </p:nvSpPr>
        <p:spPr>
          <a:xfrm>
            <a:off x="2514600" y="3977640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System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2514600" y="4325112"/>
            <a:ext cx="4023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authentication, encrypted data, secure payment processing.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617720" y="1188720"/>
            <a:ext cx="0" cy="2651760"/>
          </a:xfrm>
          <a:prstGeom prst="line">
            <a:avLst/>
          </a:prstGeom>
          <a:noFill/>
          <a:ln w="12700">
            <a:solidFill>
              <a:srgbClr val="5A2D6A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9" name="Ellipszis 18">
            <a:extLst>
              <a:ext uri="{FF2B5EF4-FFF2-40B4-BE49-F238E27FC236}">
                <a16:creationId xmlns:a16="http://schemas.microsoft.com/office/drawing/2014/main" id="{2CB64258-29B7-0332-EA89-F4B5995AC00D}"/>
              </a:ext>
            </a:extLst>
          </p:cNvPr>
          <p:cNvSpPr>
            <a:spLocks/>
          </p:cNvSpPr>
          <p:nvPr/>
        </p:nvSpPr>
        <p:spPr>
          <a:xfrm>
            <a:off x="8689680" y="88056"/>
            <a:ext cx="360000" cy="360000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E0B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768096"/>
            <a:ext cx="8229600" cy="0"/>
          </a:xfrm>
          <a:prstGeom prst="line">
            <a:avLst/>
          </a:prstGeom>
          <a:noFill/>
          <a:ln w="12700">
            <a:solidFill>
              <a:srgbClr val="5A2D6A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C8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GameCube?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170432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Marketplace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1517904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C8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 keys · DLCs · Gift cards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810512"/>
            <a:ext cx="4023360" cy="0"/>
          </a:xfrm>
          <a:prstGeom prst="line">
            <a:avLst/>
          </a:prstGeom>
          <a:noFill/>
          <a:ln w="12700">
            <a:solidFill>
              <a:srgbClr val="5A2D6A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8" name="Text 6"/>
          <p:cNvSpPr/>
          <p:nvPr/>
        </p:nvSpPr>
        <p:spPr>
          <a:xfrm>
            <a:off x="457200" y="1883664"/>
            <a:ext cx="4023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marketplace for video game keys, DLCs, and gift cards. Aggregator platform with multi-seller offers — one checkout, many vendors.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754880" y="1170432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Delivery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754880" y="1517904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C8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 available immediately in profile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54880" y="1810512"/>
            <a:ext cx="4023360" cy="0"/>
          </a:xfrm>
          <a:prstGeom prst="line">
            <a:avLst/>
          </a:prstGeom>
          <a:noFill/>
          <a:ln w="12700">
            <a:solidFill>
              <a:srgbClr val="5A2D6A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2" name="Text 10"/>
          <p:cNvSpPr/>
          <p:nvPr/>
        </p:nvSpPr>
        <p:spPr>
          <a:xfrm>
            <a:off x="4754880" y="1883664"/>
            <a:ext cx="4023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Steam, PlayStation, Xbox keys at discounted prices. Fast transactions with instant code redemption on respective platforms.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3090672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Payment Methods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57200" y="3438144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C8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 · PayPal · Bank transfer · Cash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730752"/>
            <a:ext cx="4023360" cy="0"/>
          </a:xfrm>
          <a:prstGeom prst="line">
            <a:avLst/>
          </a:prstGeom>
          <a:noFill/>
          <a:ln w="12700">
            <a:solidFill>
              <a:srgbClr val="5A2D6A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6" name="Text 14"/>
          <p:cNvSpPr/>
          <p:nvPr/>
        </p:nvSpPr>
        <p:spPr>
          <a:xfrm>
            <a:off x="457200" y="3803904"/>
            <a:ext cx="4023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major payment methods supported with secure transaction processing.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754880" y="3090672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System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754880" y="3438144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C8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 · Encrypted data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54880" y="3730752"/>
            <a:ext cx="4023360" cy="0"/>
          </a:xfrm>
          <a:prstGeom prst="line">
            <a:avLst/>
          </a:prstGeom>
          <a:noFill/>
          <a:ln w="12700">
            <a:solidFill>
              <a:srgbClr val="5A2D6A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20" name="Text 18"/>
          <p:cNvSpPr/>
          <p:nvPr/>
        </p:nvSpPr>
        <p:spPr>
          <a:xfrm>
            <a:off x="4754880" y="3803904"/>
            <a:ext cx="4023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JWT-based authentication, encrypted storage, and secure payment processing throughout.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617720" y="1143000"/>
            <a:ext cx="0" cy="3566160"/>
          </a:xfrm>
          <a:prstGeom prst="line">
            <a:avLst/>
          </a:prstGeom>
          <a:noFill/>
          <a:ln w="12700">
            <a:solidFill>
              <a:srgbClr val="5A2D6A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22" name="Shape 20"/>
          <p:cNvSpPr/>
          <p:nvPr/>
        </p:nvSpPr>
        <p:spPr>
          <a:xfrm>
            <a:off x="457200" y="3063240"/>
            <a:ext cx="4023360" cy="0"/>
          </a:xfrm>
          <a:prstGeom prst="line">
            <a:avLst/>
          </a:prstGeom>
          <a:noFill/>
          <a:ln w="12700">
            <a:solidFill>
              <a:srgbClr val="5A2D6A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23" name="Shape 21"/>
          <p:cNvSpPr/>
          <p:nvPr/>
        </p:nvSpPr>
        <p:spPr>
          <a:xfrm>
            <a:off x="4754880" y="3063240"/>
            <a:ext cx="4023360" cy="0"/>
          </a:xfrm>
          <a:prstGeom prst="line">
            <a:avLst/>
          </a:prstGeom>
          <a:noFill/>
          <a:ln w="12700">
            <a:solidFill>
              <a:srgbClr val="5A2D6A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25" name="Ellipszis 24">
            <a:extLst>
              <a:ext uri="{FF2B5EF4-FFF2-40B4-BE49-F238E27FC236}">
                <a16:creationId xmlns:a16="http://schemas.microsoft.com/office/drawing/2014/main" id="{9A89338D-23AC-B9A1-43C0-09E758D28CB8}"/>
              </a:ext>
            </a:extLst>
          </p:cNvPr>
          <p:cNvSpPr>
            <a:spLocks/>
          </p:cNvSpPr>
          <p:nvPr/>
        </p:nvSpPr>
        <p:spPr>
          <a:xfrm>
            <a:off x="8689680" y="88056"/>
            <a:ext cx="360000" cy="360000"/>
          </a:xfrm>
          <a:prstGeom prst="ellipse">
            <a:avLst/>
          </a:prstGeom>
          <a:solidFill>
            <a:srgbClr val="94209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E0B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Plan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768096"/>
            <a:ext cx="8229600" cy="0"/>
          </a:xfrm>
          <a:prstGeom prst="line">
            <a:avLst/>
          </a:prstGeom>
          <a:noFill/>
          <a:ln w="12700">
            <a:solidFill>
              <a:srgbClr val="5A2D6A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C8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Figma mockups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170432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C8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&amp; Login</a:t>
            </a:r>
            <a:endParaRPr lang="en-US" sz="1100" dirty="0"/>
          </a:p>
        </p:txBody>
      </p:sp>
      <p:pic>
        <p:nvPicPr>
          <p:cNvPr id="6" name="Image 0" descr="/home/claude/unpacked_redesign/ppt/media/image-5-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444752"/>
            <a:ext cx="4023360" cy="33832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617720" y="1143000"/>
            <a:ext cx="0" cy="3657600"/>
          </a:xfrm>
          <a:prstGeom prst="line">
            <a:avLst/>
          </a:prstGeom>
          <a:noFill/>
          <a:ln w="12700">
            <a:solidFill>
              <a:srgbClr val="5A2D6A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8" name="Text 5"/>
          <p:cNvSpPr/>
          <p:nvPr/>
        </p:nvSpPr>
        <p:spPr>
          <a:xfrm>
            <a:off x="4709160" y="1170432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C8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listing</a:t>
            </a:r>
            <a:endParaRPr lang="en-US" sz="1100" dirty="0"/>
          </a:p>
        </p:txBody>
      </p:sp>
      <p:pic>
        <p:nvPicPr>
          <p:cNvPr id="9" name="Image 1" descr="/home/claude/unpacked_redesign/ppt/media/image-5-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9160" y="1444752"/>
            <a:ext cx="4023360" cy="3383280"/>
          </a:xfrm>
          <a:prstGeom prst="rect">
            <a:avLst/>
          </a:prstGeom>
        </p:spPr>
      </p:pic>
      <p:sp>
        <p:nvSpPr>
          <p:cNvPr id="10" name="Ellipszis 9">
            <a:extLst>
              <a:ext uri="{FF2B5EF4-FFF2-40B4-BE49-F238E27FC236}">
                <a16:creationId xmlns:a16="http://schemas.microsoft.com/office/drawing/2014/main" id="{A66C038D-CCA6-0C37-F2F3-97FDABB00E1D}"/>
              </a:ext>
            </a:extLst>
          </p:cNvPr>
          <p:cNvSpPr>
            <a:spLocks/>
          </p:cNvSpPr>
          <p:nvPr/>
        </p:nvSpPr>
        <p:spPr>
          <a:xfrm>
            <a:off x="8689680" y="88056"/>
            <a:ext cx="360000" cy="360000"/>
          </a:xfrm>
          <a:prstGeom prst="ellipse">
            <a:avLst/>
          </a:prstGeom>
          <a:solidFill>
            <a:srgbClr val="521B9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E0B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Figma Design  vs.  Live Website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768096"/>
            <a:ext cx="8229600" cy="0"/>
          </a:xfrm>
          <a:prstGeom prst="line">
            <a:avLst/>
          </a:prstGeom>
          <a:noFill/>
          <a:ln w="12700">
            <a:solidFill>
              <a:srgbClr val="5A2D6A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C8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Side-by-side comparison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170432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C8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Figma</a:t>
            </a:r>
            <a:endParaRPr lang="en-US" sz="1100" dirty="0"/>
          </a:p>
        </p:txBody>
      </p:sp>
      <p:pic>
        <p:nvPicPr>
          <p:cNvPr id="6" name="Image 0" descr="/home/claude/unpacked_redesign/ppt/media/image-5-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444752"/>
            <a:ext cx="4023360" cy="33832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617720" y="1143000"/>
            <a:ext cx="0" cy="3703320"/>
          </a:xfrm>
          <a:prstGeom prst="line">
            <a:avLst/>
          </a:prstGeom>
          <a:noFill/>
          <a:ln w="12700">
            <a:solidFill>
              <a:srgbClr val="5A2D6A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8" name="Text 5"/>
          <p:cNvSpPr/>
          <p:nvPr/>
        </p:nvSpPr>
        <p:spPr>
          <a:xfrm>
            <a:off x="4709160" y="1170432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C8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website</a:t>
            </a:r>
            <a:endParaRPr lang="en-US" sz="1100" dirty="0"/>
          </a:p>
        </p:txBody>
      </p:sp>
      <p:pic>
        <p:nvPicPr>
          <p:cNvPr id="9" name="Image 1" descr="/home/claude/jelenlegi_webold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9160" y="1444752"/>
            <a:ext cx="4023360" cy="1920240"/>
          </a:xfrm>
          <a:prstGeom prst="rect">
            <a:avLst/>
          </a:prstGeom>
        </p:spPr>
      </p:pic>
      <p:pic>
        <p:nvPicPr>
          <p:cNvPr id="10" name="Image 2" descr="/home/claude/jelenlegi_weboldal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09160" y="3429000"/>
            <a:ext cx="4023360" cy="1399032"/>
          </a:xfrm>
          <a:prstGeom prst="rect">
            <a:avLst/>
          </a:prstGeom>
        </p:spPr>
      </p:pic>
      <p:sp>
        <p:nvSpPr>
          <p:cNvPr id="11" name="Ellipszis 10">
            <a:extLst>
              <a:ext uri="{FF2B5EF4-FFF2-40B4-BE49-F238E27FC236}">
                <a16:creationId xmlns:a16="http://schemas.microsoft.com/office/drawing/2014/main" id="{ECBC5529-D637-F113-499C-1751AA075464}"/>
              </a:ext>
            </a:extLst>
          </p:cNvPr>
          <p:cNvSpPr>
            <a:spLocks/>
          </p:cNvSpPr>
          <p:nvPr/>
        </p:nvSpPr>
        <p:spPr>
          <a:xfrm>
            <a:off x="8689680" y="88056"/>
            <a:ext cx="360000" cy="360000"/>
          </a:xfrm>
          <a:prstGeom prst="ellipse">
            <a:avLst/>
          </a:prstGeom>
          <a:solidFill>
            <a:srgbClr val="521B9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E0B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Website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768096"/>
            <a:ext cx="8229600" cy="0"/>
          </a:xfrm>
          <a:prstGeom prst="line">
            <a:avLst/>
          </a:prstGeom>
          <a:noFill/>
          <a:ln w="12700">
            <a:solidFill>
              <a:srgbClr val="5A2D6A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C8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state of the application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14300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C8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Homepage</a:t>
            </a:r>
            <a:endParaRPr lang="en-US" sz="1100" dirty="0"/>
          </a:p>
        </p:txBody>
      </p:sp>
      <p:pic>
        <p:nvPicPr>
          <p:cNvPr id="6" name="Image 0" descr="/home/claude/unpacked_redesign/ppt/media/image-7-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417320"/>
            <a:ext cx="3931920" cy="16276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773168" y="114300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C8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</a:t>
            </a:r>
            <a:endParaRPr lang="en-US" sz="1100" dirty="0"/>
          </a:p>
        </p:txBody>
      </p:sp>
      <p:pic>
        <p:nvPicPr>
          <p:cNvPr id="8" name="Image 1" descr="/home/claude/unpacked_redesign/ppt/media/image-8-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3168" y="1417320"/>
            <a:ext cx="3931920" cy="162763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57200" y="315468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C8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</a:t>
            </a:r>
            <a:endParaRPr lang="en-US" sz="1100" dirty="0"/>
          </a:p>
        </p:txBody>
      </p:sp>
      <p:pic>
        <p:nvPicPr>
          <p:cNvPr id="10" name="Image 2" descr="/home/claude/unpacked_redesign/ppt/media/image-9-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3429000"/>
            <a:ext cx="3931920" cy="162763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4773168" y="315468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C8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</a:t>
            </a:r>
            <a:endParaRPr lang="en-US" sz="1100" dirty="0"/>
          </a:p>
        </p:txBody>
      </p:sp>
      <p:pic>
        <p:nvPicPr>
          <p:cNvPr id="12" name="Image 3" descr="/home/claude/unpacked_redesign/ppt/media/image-10-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73168" y="3429000"/>
            <a:ext cx="3931920" cy="1627632"/>
          </a:xfrm>
          <a:prstGeom prst="rect">
            <a:avLst/>
          </a:prstGeom>
        </p:spPr>
      </p:pic>
      <p:sp>
        <p:nvSpPr>
          <p:cNvPr id="13" name="Shape 7"/>
          <p:cNvSpPr/>
          <p:nvPr/>
        </p:nvSpPr>
        <p:spPr>
          <a:xfrm>
            <a:off x="4617720" y="1143000"/>
            <a:ext cx="0" cy="3657600"/>
          </a:xfrm>
          <a:prstGeom prst="line">
            <a:avLst/>
          </a:prstGeom>
          <a:noFill/>
          <a:ln w="12700">
            <a:solidFill>
              <a:srgbClr val="5A2D6A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4" name="Shape 8"/>
          <p:cNvSpPr/>
          <p:nvPr/>
        </p:nvSpPr>
        <p:spPr>
          <a:xfrm>
            <a:off x="457200" y="3090672"/>
            <a:ext cx="8321040" cy="0"/>
          </a:xfrm>
          <a:prstGeom prst="line">
            <a:avLst/>
          </a:prstGeom>
          <a:noFill/>
          <a:ln w="12700">
            <a:solidFill>
              <a:srgbClr val="5A2D6A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5" name="Ellipszis 14">
            <a:extLst>
              <a:ext uri="{FF2B5EF4-FFF2-40B4-BE49-F238E27FC236}">
                <a16:creationId xmlns:a16="http://schemas.microsoft.com/office/drawing/2014/main" id="{B2ABE665-0C0D-9D17-3F44-1E844C760BB3}"/>
              </a:ext>
            </a:extLst>
          </p:cNvPr>
          <p:cNvSpPr>
            <a:spLocks/>
          </p:cNvSpPr>
          <p:nvPr/>
        </p:nvSpPr>
        <p:spPr>
          <a:xfrm>
            <a:off x="8689680" y="88056"/>
            <a:ext cx="360000" cy="360000"/>
          </a:xfrm>
          <a:prstGeom prst="ellipse">
            <a:avLst/>
          </a:prstGeom>
          <a:solidFill>
            <a:srgbClr val="521B9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E0B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Plan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768096"/>
            <a:ext cx="8229600" cy="0"/>
          </a:xfrm>
          <a:prstGeom prst="line">
            <a:avLst/>
          </a:prstGeom>
          <a:noFill/>
          <a:ln w="12700">
            <a:solidFill>
              <a:srgbClr val="5A2D6A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C8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schema</a:t>
            </a:r>
            <a:endParaRPr lang="en-US" sz="1200" dirty="0"/>
          </a:p>
        </p:txBody>
      </p:sp>
      <p:pic>
        <p:nvPicPr>
          <p:cNvPr id="5" name="Image 0" descr="/home/claude/1772185145177_image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65760" y="1051560"/>
            <a:ext cx="8412480" cy="3749040"/>
          </a:xfrm>
          <a:prstGeom prst="rect">
            <a:avLst/>
          </a:prstGeom>
        </p:spPr>
      </p:pic>
      <p:sp>
        <p:nvSpPr>
          <p:cNvPr id="7" name="Ellipszis 6">
            <a:extLst>
              <a:ext uri="{FF2B5EF4-FFF2-40B4-BE49-F238E27FC236}">
                <a16:creationId xmlns:a16="http://schemas.microsoft.com/office/drawing/2014/main" id="{B767E322-2121-E0E3-C528-B24662A56B7D}"/>
              </a:ext>
            </a:extLst>
          </p:cNvPr>
          <p:cNvSpPr>
            <a:spLocks/>
          </p:cNvSpPr>
          <p:nvPr/>
        </p:nvSpPr>
        <p:spPr>
          <a:xfrm>
            <a:off x="8689680" y="88056"/>
            <a:ext cx="360000" cy="360000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E0B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System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768096"/>
            <a:ext cx="8229600" cy="0"/>
          </a:xfrm>
          <a:prstGeom prst="line">
            <a:avLst/>
          </a:prstGeom>
          <a:noFill/>
          <a:ln w="12700">
            <a:solidFill>
              <a:srgbClr val="5A2D6A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C8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transactional emails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65760" y="1170432"/>
            <a:ext cx="26334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C8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confirmation</a:t>
            </a:r>
            <a:endParaRPr lang="en-US" sz="1100" dirty="0"/>
          </a:p>
        </p:txBody>
      </p:sp>
      <p:pic>
        <p:nvPicPr>
          <p:cNvPr id="6" name="Image 0" descr="/home/claude/rendeles_email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65760" y="1444752"/>
            <a:ext cx="2633472" cy="33832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154680" y="1143000"/>
            <a:ext cx="0" cy="3657600"/>
          </a:xfrm>
          <a:prstGeom prst="line">
            <a:avLst/>
          </a:prstGeom>
          <a:noFill/>
          <a:ln w="12700">
            <a:solidFill>
              <a:srgbClr val="5A2D6A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8" name="Text 5"/>
          <p:cNvSpPr/>
          <p:nvPr/>
        </p:nvSpPr>
        <p:spPr>
          <a:xfrm>
            <a:off x="3218688" y="1170432"/>
            <a:ext cx="26334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C8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approved</a:t>
            </a:r>
            <a:endParaRPr lang="en-US" sz="1100" dirty="0"/>
          </a:p>
        </p:txBody>
      </p:sp>
      <p:pic>
        <p:nvPicPr>
          <p:cNvPr id="9" name="Image 1" descr="/home/claude/rendeles_jovahagyva_email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218688" y="1444752"/>
            <a:ext cx="2633472" cy="338328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6007608" y="1143000"/>
            <a:ext cx="0" cy="3657600"/>
          </a:xfrm>
          <a:prstGeom prst="line">
            <a:avLst/>
          </a:prstGeom>
          <a:noFill/>
          <a:ln w="12700">
            <a:solidFill>
              <a:srgbClr val="5A2D6A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1" name="Text 7"/>
          <p:cNvSpPr/>
          <p:nvPr/>
        </p:nvSpPr>
        <p:spPr>
          <a:xfrm>
            <a:off x="6071616" y="1170432"/>
            <a:ext cx="26334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C8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message</a:t>
            </a:r>
            <a:endParaRPr lang="en-US" sz="1100" dirty="0"/>
          </a:p>
        </p:txBody>
      </p:sp>
      <p:pic>
        <p:nvPicPr>
          <p:cNvPr id="12" name="Image 2" descr="/home/claude/kapcsolat_uzenet_email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071616" y="1444752"/>
            <a:ext cx="2633472" cy="3383280"/>
          </a:xfrm>
          <a:prstGeom prst="rect">
            <a:avLst/>
          </a:prstGeom>
        </p:spPr>
      </p:pic>
      <p:sp>
        <p:nvSpPr>
          <p:cNvPr id="13" name="Ellipszis 12">
            <a:extLst>
              <a:ext uri="{FF2B5EF4-FFF2-40B4-BE49-F238E27FC236}">
                <a16:creationId xmlns:a16="http://schemas.microsoft.com/office/drawing/2014/main" id="{88FCB982-2E91-5C31-F5E7-41675EB54891}"/>
              </a:ext>
            </a:extLst>
          </p:cNvPr>
          <p:cNvSpPr>
            <a:spLocks/>
          </p:cNvSpPr>
          <p:nvPr/>
        </p:nvSpPr>
        <p:spPr>
          <a:xfrm>
            <a:off x="8689680" y="88056"/>
            <a:ext cx="360000" cy="360000"/>
          </a:xfrm>
          <a:prstGeom prst="ellipse">
            <a:avLst/>
          </a:prstGeom>
          <a:solidFill>
            <a:srgbClr val="94209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E0B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Technologies Used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768096"/>
            <a:ext cx="8229600" cy="0"/>
          </a:xfrm>
          <a:prstGeom prst="line">
            <a:avLst/>
          </a:prstGeom>
          <a:noFill/>
          <a:ln w="12700">
            <a:solidFill>
              <a:srgbClr val="5A2D6A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C8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tech stack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170432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2651760" cy="0"/>
          </a:xfrm>
          <a:prstGeom prst="line">
            <a:avLst/>
          </a:prstGeom>
          <a:noFill/>
          <a:ln w="12700">
            <a:solidFill>
              <a:srgbClr val="5A2D6A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7" name="Text 5"/>
          <p:cNvSpPr/>
          <p:nvPr/>
        </p:nvSpPr>
        <p:spPr>
          <a:xfrm>
            <a:off x="457200" y="1664208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7200" y="201168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structure, accessibility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715768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57200" y="306324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design, animations, Bootstrap 5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3767328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57200" y="411480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calls, dynamic UI, cart and filter logic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227832" y="1143000"/>
            <a:ext cx="0" cy="3749040"/>
          </a:xfrm>
          <a:prstGeom prst="line">
            <a:avLst/>
          </a:prstGeom>
          <a:noFill/>
          <a:ln w="12700">
            <a:solidFill>
              <a:srgbClr val="5A2D6A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4" name="Text 12"/>
          <p:cNvSpPr/>
          <p:nvPr/>
        </p:nvSpPr>
        <p:spPr>
          <a:xfrm>
            <a:off x="3337560" y="1170432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&amp; Database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337560" y="1554480"/>
            <a:ext cx="2651760" cy="0"/>
          </a:xfrm>
          <a:prstGeom prst="line">
            <a:avLst/>
          </a:prstGeom>
          <a:noFill/>
          <a:ln w="12700">
            <a:solidFill>
              <a:srgbClr val="5A2D6A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6" name="Text 14"/>
          <p:cNvSpPr/>
          <p:nvPr/>
        </p:nvSpPr>
        <p:spPr>
          <a:xfrm>
            <a:off x="3337560" y="1664208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337560" y="201168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API, JWT, session handling, SMTP email sending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337560" y="2715768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3337560" y="306324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Users, products, orders, and game keys storage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108192" y="1143000"/>
            <a:ext cx="0" cy="3749040"/>
          </a:xfrm>
          <a:prstGeom prst="line">
            <a:avLst/>
          </a:prstGeom>
          <a:noFill/>
          <a:ln w="12700">
            <a:solidFill>
              <a:srgbClr val="5A2D6A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21" name="Text 19"/>
          <p:cNvSpPr/>
          <p:nvPr/>
        </p:nvSpPr>
        <p:spPr>
          <a:xfrm>
            <a:off x="6217920" y="1170432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217920" y="1554480"/>
            <a:ext cx="2651760" cy="0"/>
          </a:xfrm>
          <a:prstGeom prst="line">
            <a:avLst/>
          </a:prstGeom>
          <a:noFill/>
          <a:ln w="12700">
            <a:solidFill>
              <a:srgbClr val="5A2D6A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23" name="Text 21"/>
          <p:cNvSpPr/>
          <p:nvPr/>
        </p:nvSpPr>
        <p:spPr>
          <a:xfrm>
            <a:off x="6217920" y="1664208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217920" y="201168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9B5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control, team collaboration, code sharing</a:t>
            </a:r>
            <a:endParaRPr lang="en-US" sz="1200" dirty="0">
              <a:solidFill>
                <a:srgbClr val="C9B5D5"/>
              </a:solidFill>
            </a:endParaRPr>
          </a:p>
        </p:txBody>
      </p:sp>
      <p:sp>
        <p:nvSpPr>
          <p:cNvPr id="25" name="Ellipszis 24">
            <a:extLst>
              <a:ext uri="{FF2B5EF4-FFF2-40B4-BE49-F238E27FC236}">
                <a16:creationId xmlns:a16="http://schemas.microsoft.com/office/drawing/2014/main" id="{7FD84C7C-EF97-9FFB-2A68-F686BB3BE3F8}"/>
              </a:ext>
            </a:extLst>
          </p:cNvPr>
          <p:cNvSpPr>
            <a:spLocks/>
          </p:cNvSpPr>
          <p:nvPr/>
        </p:nvSpPr>
        <p:spPr>
          <a:xfrm>
            <a:off x="8689680" y="88056"/>
            <a:ext cx="360000" cy="360000"/>
          </a:xfrm>
          <a:prstGeom prst="ellipse">
            <a:avLst/>
          </a:prstGeom>
          <a:solidFill>
            <a:srgbClr val="94209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26" name="Text 21">
            <a:extLst>
              <a:ext uri="{FF2B5EF4-FFF2-40B4-BE49-F238E27FC236}">
                <a16:creationId xmlns:a16="http://schemas.microsoft.com/office/drawing/2014/main" id="{1B0419E9-A739-EE86-B07B-7A5085E8FF39}"/>
              </a:ext>
            </a:extLst>
          </p:cNvPr>
          <p:cNvSpPr/>
          <p:nvPr/>
        </p:nvSpPr>
        <p:spPr>
          <a:xfrm>
            <a:off x="6217919" y="2734056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Jira</a:t>
            </a:r>
            <a:endParaRPr lang="en-US" sz="1500" dirty="0"/>
          </a:p>
        </p:txBody>
      </p:sp>
      <p:sp>
        <p:nvSpPr>
          <p:cNvPr id="29" name="Text 22">
            <a:extLst>
              <a:ext uri="{FF2B5EF4-FFF2-40B4-BE49-F238E27FC236}">
                <a16:creationId xmlns:a16="http://schemas.microsoft.com/office/drawing/2014/main" id="{6D938382-07E4-F7F8-5109-CDE84E95F026}"/>
              </a:ext>
            </a:extLst>
          </p:cNvPr>
          <p:cNvSpPr/>
          <p:nvPr/>
        </p:nvSpPr>
        <p:spPr>
          <a:xfrm>
            <a:off x="6217919" y="306324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hu-HU" sz="1200" dirty="0" err="1">
                <a:solidFill>
                  <a:srgbClr val="C9B5D5"/>
                </a:solidFill>
              </a:rPr>
              <a:t>Task</a:t>
            </a:r>
            <a:r>
              <a:rPr lang="hu-HU" sz="1200" dirty="0">
                <a:solidFill>
                  <a:srgbClr val="C9B5D5"/>
                </a:solidFill>
              </a:rPr>
              <a:t>, </a:t>
            </a:r>
            <a:r>
              <a:rPr lang="hu-HU" sz="1200" dirty="0" err="1">
                <a:solidFill>
                  <a:srgbClr val="C9B5D5"/>
                </a:solidFill>
              </a:rPr>
              <a:t>time</a:t>
            </a:r>
            <a:r>
              <a:rPr lang="hu-HU" sz="1200" dirty="0">
                <a:solidFill>
                  <a:srgbClr val="C9B5D5"/>
                </a:solidFill>
              </a:rPr>
              <a:t> management &amp; sprint </a:t>
            </a:r>
            <a:r>
              <a:rPr lang="hu-HU" sz="1200" dirty="0" err="1">
                <a:solidFill>
                  <a:srgbClr val="C9B5D5"/>
                </a:solidFill>
              </a:rPr>
              <a:t>planning</a:t>
            </a:r>
            <a:endParaRPr lang="en-US" sz="1000" dirty="0">
              <a:solidFill>
                <a:srgbClr val="C9B5D5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E0B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Management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768096"/>
            <a:ext cx="8229600" cy="0"/>
          </a:xfrm>
          <a:prstGeom prst="line">
            <a:avLst/>
          </a:prstGeom>
          <a:noFill/>
          <a:ln w="12700">
            <a:solidFill>
              <a:srgbClr val="5A2D6A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C8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Jira &amp; GitHub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170432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Jira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536192"/>
            <a:ext cx="3931920" cy="0"/>
          </a:xfrm>
          <a:prstGeom prst="line">
            <a:avLst/>
          </a:prstGeom>
          <a:noFill/>
          <a:ln w="12700">
            <a:solidFill>
              <a:srgbClr val="5A2D6A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7" name="Text 5"/>
          <p:cNvSpPr/>
          <p:nvPr/>
        </p:nvSpPr>
        <p:spPr>
          <a:xfrm>
            <a:off x="457200" y="1627632"/>
            <a:ext cx="393192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Creating and assigning tasks to team members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 completed tickets (GAM-1 → GAM-38+)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tracking: To Do → In Progress → Done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and deadline management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planning and retrospectives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617720" y="1143000"/>
            <a:ext cx="0" cy="3749040"/>
          </a:xfrm>
          <a:prstGeom prst="line">
            <a:avLst/>
          </a:prstGeom>
          <a:noFill/>
          <a:ln w="12700">
            <a:solidFill>
              <a:srgbClr val="5A2D6A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9" name="Text 7"/>
          <p:cNvSpPr/>
          <p:nvPr/>
        </p:nvSpPr>
        <p:spPr>
          <a:xfrm>
            <a:off x="4754880" y="1170432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754880" y="1536192"/>
            <a:ext cx="3931920" cy="0"/>
          </a:xfrm>
          <a:prstGeom prst="line">
            <a:avLst/>
          </a:prstGeom>
          <a:noFill/>
          <a:ln w="12700">
            <a:solidFill>
              <a:srgbClr val="5A2D6A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1" name="Text 9"/>
          <p:cNvSpPr/>
          <p:nvPr/>
        </p:nvSpPr>
        <p:spPr>
          <a:xfrm>
            <a:off x="4754880" y="1627632"/>
            <a:ext cx="393192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repository for the entire team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Everyone has access to the latest code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visible through commit history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development using branches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Conflict resolution and code review</a:t>
            </a:r>
            <a:endParaRPr lang="en-US" sz="1300" dirty="0"/>
          </a:p>
        </p:txBody>
      </p:sp>
      <p:sp>
        <p:nvSpPr>
          <p:cNvPr id="12" name="Ellipszis 11">
            <a:extLst>
              <a:ext uri="{FF2B5EF4-FFF2-40B4-BE49-F238E27FC236}">
                <a16:creationId xmlns:a16="http://schemas.microsoft.com/office/drawing/2014/main" id="{7A2D4BDA-F29D-CF59-212A-50E0BD0DB790}"/>
              </a:ext>
            </a:extLst>
          </p:cNvPr>
          <p:cNvSpPr>
            <a:spLocks/>
          </p:cNvSpPr>
          <p:nvPr/>
        </p:nvSpPr>
        <p:spPr>
          <a:xfrm>
            <a:off x="8689680" y="88056"/>
            <a:ext cx="360000" cy="360000"/>
          </a:xfrm>
          <a:prstGeom prst="ellipse">
            <a:avLst/>
          </a:prstGeom>
          <a:solidFill>
            <a:srgbClr val="521B9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E0B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768096"/>
            <a:ext cx="8229600" cy="0"/>
          </a:xfrm>
          <a:prstGeom prst="line">
            <a:avLst/>
          </a:prstGeom>
          <a:noFill/>
          <a:ln w="12700">
            <a:solidFill>
              <a:srgbClr val="5A2D6A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C8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cases &amp; results</a:t>
            </a:r>
            <a:endParaRPr lang="en-US" sz="1200" dirty="0"/>
          </a:p>
        </p:txBody>
      </p:sp>
      <p:pic>
        <p:nvPicPr>
          <p:cNvPr id="5" name="Image 0" descr="/home/claude/teszteles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65760" y="1051560"/>
            <a:ext cx="8412480" cy="3749040"/>
          </a:xfrm>
          <a:prstGeom prst="rect">
            <a:avLst/>
          </a:prstGeom>
        </p:spPr>
      </p:pic>
      <p:sp>
        <p:nvSpPr>
          <p:cNvPr id="6" name="Ellipszis 5">
            <a:extLst>
              <a:ext uri="{FF2B5EF4-FFF2-40B4-BE49-F238E27FC236}">
                <a16:creationId xmlns:a16="http://schemas.microsoft.com/office/drawing/2014/main" id="{01C4AA77-EFC4-C7C2-6052-5659AC407D13}"/>
              </a:ext>
            </a:extLst>
          </p:cNvPr>
          <p:cNvSpPr>
            <a:spLocks/>
          </p:cNvSpPr>
          <p:nvPr/>
        </p:nvSpPr>
        <p:spPr>
          <a:xfrm>
            <a:off x="8689680" y="88056"/>
            <a:ext cx="360000" cy="360000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E0B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Management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768096"/>
            <a:ext cx="8229600" cy="0"/>
          </a:xfrm>
          <a:prstGeom prst="line">
            <a:avLst/>
          </a:prstGeom>
          <a:noFill/>
          <a:ln w="12700">
            <a:solidFill>
              <a:srgbClr val="5A2D6A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C8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Jira time tracking  —  160 hours total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234440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Németh Barna Kristóf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581912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C8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Developer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911096"/>
            <a:ext cx="4023360" cy="164592"/>
          </a:xfrm>
          <a:prstGeom prst="rect">
            <a:avLst/>
          </a:prstGeom>
          <a:solidFill>
            <a:srgbClr val="5A2D6A"/>
          </a:solidFill>
          <a:ln w="12700">
            <a:solidFill>
              <a:srgbClr val="5A2D6A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8" name="Shape 6"/>
          <p:cNvSpPr/>
          <p:nvPr/>
        </p:nvSpPr>
        <p:spPr>
          <a:xfrm>
            <a:off x="457200" y="1911096"/>
            <a:ext cx="1609344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9" name="Text 7"/>
          <p:cNvSpPr/>
          <p:nvPr/>
        </p:nvSpPr>
        <p:spPr>
          <a:xfrm>
            <a:off x="4526280" y="187452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66h  —  40%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203704"/>
            <a:ext cx="5669280" cy="0"/>
          </a:xfrm>
          <a:prstGeom prst="line">
            <a:avLst/>
          </a:prstGeom>
          <a:noFill/>
          <a:ln w="12700">
            <a:solidFill>
              <a:srgbClr val="5A2D6A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1" name="Text 9"/>
          <p:cNvSpPr/>
          <p:nvPr/>
        </p:nvSpPr>
        <p:spPr>
          <a:xfrm>
            <a:off x="457200" y="2404872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Tabi Kevin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2752344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C8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/ PM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3081528"/>
            <a:ext cx="4023360" cy="164592"/>
          </a:xfrm>
          <a:prstGeom prst="rect">
            <a:avLst/>
          </a:prstGeom>
          <a:solidFill>
            <a:srgbClr val="5A2D6A"/>
          </a:solidFill>
          <a:ln w="12700">
            <a:solidFill>
              <a:srgbClr val="5A2D6A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4" name="Shape 12"/>
          <p:cNvSpPr/>
          <p:nvPr/>
        </p:nvSpPr>
        <p:spPr>
          <a:xfrm>
            <a:off x="457200" y="3081528"/>
            <a:ext cx="1327709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5" name="Text 13"/>
          <p:cNvSpPr/>
          <p:nvPr/>
        </p:nvSpPr>
        <p:spPr>
          <a:xfrm>
            <a:off x="4526280" y="3044952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51h  —  33%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374136"/>
            <a:ext cx="5669280" cy="0"/>
          </a:xfrm>
          <a:prstGeom prst="line">
            <a:avLst/>
          </a:prstGeom>
          <a:noFill/>
          <a:ln w="12700">
            <a:solidFill>
              <a:srgbClr val="5A2D6A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7" name="Text 15"/>
          <p:cNvSpPr/>
          <p:nvPr/>
        </p:nvSpPr>
        <p:spPr>
          <a:xfrm>
            <a:off x="457200" y="3575304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Dalmady Máté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57200" y="3922776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C8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Developer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4251960"/>
            <a:ext cx="4023360" cy="164592"/>
          </a:xfrm>
          <a:prstGeom prst="rect">
            <a:avLst/>
          </a:prstGeom>
          <a:solidFill>
            <a:srgbClr val="5A2D6A"/>
          </a:solidFill>
          <a:ln w="12700">
            <a:solidFill>
              <a:srgbClr val="5A2D6A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20" name="Shape 18"/>
          <p:cNvSpPr/>
          <p:nvPr/>
        </p:nvSpPr>
        <p:spPr>
          <a:xfrm>
            <a:off x="457200" y="4251960"/>
            <a:ext cx="1086307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21" name="Text 19"/>
          <p:cNvSpPr/>
          <p:nvPr/>
        </p:nvSpPr>
        <p:spPr>
          <a:xfrm>
            <a:off x="4526280" y="4215384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43h  —  27%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617720" y="1170432"/>
            <a:ext cx="0" cy="3566160"/>
          </a:xfrm>
          <a:prstGeom prst="line">
            <a:avLst/>
          </a:prstGeom>
          <a:noFill/>
          <a:ln w="12700">
            <a:solidFill>
              <a:srgbClr val="5A2D6A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graphicFrame>
        <p:nvGraphicFramePr>
          <p:cNvPr id="23" name="Chart 0"/>
          <p:cNvGraphicFramePr/>
          <p:nvPr>
            <p:extLst>
              <p:ext uri="{D42A27DB-BD31-4B8C-83A1-F6EECF244321}">
                <p14:modId xmlns:p14="http://schemas.microsoft.com/office/powerpoint/2010/main" val="1893234836"/>
              </p:ext>
            </p:extLst>
          </p:nvPr>
        </p:nvGraphicFramePr>
        <p:xfrm>
          <a:off x="4754880" y="1143000"/>
          <a:ext cx="4023360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4" name="Ellipszis 23">
            <a:extLst>
              <a:ext uri="{FF2B5EF4-FFF2-40B4-BE49-F238E27FC236}">
                <a16:creationId xmlns:a16="http://schemas.microsoft.com/office/drawing/2014/main" id="{A3856BED-63B1-A08E-6D4A-3B294B5C9E15}"/>
              </a:ext>
            </a:extLst>
          </p:cNvPr>
          <p:cNvSpPr>
            <a:spLocks/>
          </p:cNvSpPr>
          <p:nvPr/>
        </p:nvSpPr>
        <p:spPr>
          <a:xfrm>
            <a:off x="8689680" y="88056"/>
            <a:ext cx="360000" cy="360000"/>
          </a:xfrm>
          <a:prstGeom prst="ellipse">
            <a:avLst/>
          </a:prstGeom>
          <a:solidFill>
            <a:srgbClr val="521B9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2E0B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463040"/>
            <a:ext cx="9144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you.</a:t>
            </a:r>
            <a:endParaRPr lang="en-US" sz="6800" dirty="0"/>
          </a:p>
        </p:txBody>
      </p:sp>
      <p:sp>
        <p:nvSpPr>
          <p:cNvPr id="3" name="Text 1"/>
          <p:cNvSpPr/>
          <p:nvPr/>
        </p:nvSpPr>
        <p:spPr>
          <a:xfrm>
            <a:off x="0" y="292608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C8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GameCube — Digital Game Keys Marketplace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2743200" y="3547872"/>
            <a:ext cx="3657600" cy="0"/>
          </a:xfrm>
          <a:prstGeom prst="line">
            <a:avLst/>
          </a:prstGeom>
          <a:noFill/>
          <a:ln w="12700">
            <a:solidFill>
              <a:srgbClr val="5A2D6A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5" name="Text 3"/>
          <p:cNvSpPr/>
          <p:nvPr/>
        </p:nvSpPr>
        <p:spPr>
          <a:xfrm>
            <a:off x="457200" y="3712464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Dalmady Máté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4059936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8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Developer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337560" y="3712464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Németh Barna Kristóf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337560" y="4059936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8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Developer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217920" y="3712464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Tabi Kevin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217920" y="4059936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8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/ PM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457</TotalTime>
  <Words>535</Words>
  <Application>Microsoft Macintosh PowerPoint</Application>
  <PresentationFormat>Diavetítés a képernyőre (16:9 oldalarány)</PresentationFormat>
  <Paragraphs>142</Paragraphs>
  <Slides>14</Slides>
  <Notes>14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2</vt:i4>
      </vt:variant>
      <vt:variant>
        <vt:lpstr>Téma</vt:lpstr>
      </vt:variant>
      <vt:variant>
        <vt:i4>1</vt:i4>
      </vt:variant>
      <vt:variant>
        <vt:lpstr>Diacímek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kertundike@sulid.hu</cp:lastModifiedBy>
  <cp:revision>10</cp:revision>
  <dcterms:created xsi:type="dcterms:W3CDTF">2026-02-27T09:53:32Z</dcterms:created>
  <dcterms:modified xsi:type="dcterms:W3CDTF">2026-03-02T19:54:53Z</dcterms:modified>
</cp:coreProperties>
</file>